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la Krishna Tulugu" userId="846741e5c2773db2" providerId="LiveId" clId="{BA5FA2FF-FEBE-4AE2-B7F4-5A64BA544455}"/>
    <pc:docChg chg="undo custSel modSld">
      <pc:chgData name="Leela Krishna Tulugu" userId="846741e5c2773db2" providerId="LiveId" clId="{BA5FA2FF-FEBE-4AE2-B7F4-5A64BA544455}" dt="2026-07-08T05:38:03.106" v="9" actId="478"/>
      <pc:docMkLst>
        <pc:docMk/>
      </pc:docMkLst>
      <pc:sldChg chg="delSp mod">
        <pc:chgData name="Leela Krishna Tulugu" userId="846741e5c2773db2" providerId="LiveId" clId="{BA5FA2FF-FEBE-4AE2-B7F4-5A64BA544455}" dt="2026-07-08T05:38:03.106" v="9" actId="478"/>
        <pc:sldMkLst>
          <pc:docMk/>
          <pc:sldMk cId="0" sldId="256"/>
        </pc:sldMkLst>
        <pc:spChg chg="del">
          <ac:chgData name="Leela Krishna Tulugu" userId="846741e5c2773db2" providerId="LiveId" clId="{BA5FA2FF-FEBE-4AE2-B7F4-5A64BA544455}" dt="2026-07-08T05:37:57.705" v="8" actId="478"/>
          <ac:spMkLst>
            <pc:docMk/>
            <pc:sldMk cId="0" sldId="256"/>
            <ac:spMk id="9" creationId="{B5C8633D-FD37-CEBC-57C8-B64708366FF7}"/>
          </ac:spMkLst>
        </pc:spChg>
        <pc:spChg chg="del">
          <ac:chgData name="Leela Krishna Tulugu" userId="846741e5c2773db2" providerId="LiveId" clId="{BA5FA2FF-FEBE-4AE2-B7F4-5A64BA544455}" dt="2026-07-08T05:38:03.106" v="9" actId="478"/>
          <ac:spMkLst>
            <pc:docMk/>
            <pc:sldMk cId="0" sldId="256"/>
            <ac:spMk id="10" creationId="{6835D1B4-FEF9-4812-BCA7-BDE979576C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480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sto MT" panose="02040603050505030304" pitchFamily="18" charset="0"/>
                <a:ea typeface="Arial Black" pitchFamily="34" charset="-122"/>
                <a:cs typeface="Arial Black" pitchFamily="34" charset="-120"/>
              </a:rPr>
              <a:t>CODE CONVERTER</a:t>
            </a:r>
            <a:endParaRPr lang="en-US" sz="4400" dirty="0">
              <a:latin typeface="Calisto MT" panose="0204060305050503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 · Nexys 4 FPGA · 7-Segment Display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25448"/>
            <a:ext cx="518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→ Decimal  |  Binary → Hex  |  Binary → Gray  |  Binary → BCD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Divider  |  Anode Control  |  7-Segment Drive</a:t>
            </a:r>
            <a:endParaRPr lang="en-US" sz="14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8CE978D-39AD-B53C-880B-8FF3C8DC7BF3}"/>
              </a:ext>
            </a:extLst>
          </p:cNvPr>
          <p:cNvSpPr/>
          <p:nvPr/>
        </p:nvSpPr>
        <p:spPr>
          <a:xfrm>
            <a:off x="548640" y="3610657"/>
            <a:ext cx="2791968" cy="816688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US" sz="1200" dirty="0">
                <a:solidFill>
                  <a:schemeClr val="bg1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Presented by:</a:t>
            </a:r>
          </a:p>
          <a:p>
            <a:r>
              <a:rPr lang="en-US" sz="1200" dirty="0" err="1">
                <a:solidFill>
                  <a:schemeClr val="bg1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V.Arya</a:t>
            </a:r>
            <a:r>
              <a:rPr lang="en-US" sz="1200" dirty="0">
                <a:solidFill>
                  <a:schemeClr val="bg1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 Satya Sai  [12308032_16]</a:t>
            </a:r>
          </a:p>
          <a:p>
            <a:r>
              <a:rPr lang="en-US" sz="1200" dirty="0" err="1">
                <a:solidFill>
                  <a:schemeClr val="bg1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T.Leela</a:t>
            </a:r>
            <a:r>
              <a:rPr lang="en-US" sz="1200" dirty="0">
                <a:solidFill>
                  <a:schemeClr val="bg1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 Krishna  [12316522_39]</a:t>
            </a:r>
          </a:p>
          <a:p>
            <a:r>
              <a:rPr lang="en-US" sz="1200" dirty="0" err="1">
                <a:solidFill>
                  <a:schemeClr val="bg1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O.Vinil</a:t>
            </a:r>
            <a:r>
              <a:rPr lang="en-US" sz="1200" dirty="0">
                <a:solidFill>
                  <a:schemeClr val="bg1"/>
                </a:solidFill>
                <a:latin typeface="DejaVu Serif" panose="02060603050605020204" pitchFamily="18" charset="0"/>
                <a:ea typeface="DejaVu Serif" panose="02060603050605020204" pitchFamily="18" charset="0"/>
              </a:rPr>
              <a:t> Kumar  [12311402_ 24]</a:t>
            </a:r>
            <a:endParaRPr lang="en-IN" sz="1200" dirty="0">
              <a:solidFill>
                <a:schemeClr val="bg1"/>
              </a:solidFill>
              <a:latin typeface="DejaVu Serif" panose="02060603050605020204" pitchFamily="18" charset="0"/>
              <a:ea typeface="DejaVu Serif" panose="0206060305060502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Binary → Decimal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2'b00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2562" y="9378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840480" cy="993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4-bit binary input (0–15)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Outputs: tens digit + units digit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0–9 → tens=0, units=0–9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10–15 → tens=1, units=0–5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Displayed on 2 seven-segment digits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88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Verilog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197725"/>
            <a:ext cx="4389120" cy="2845508"/>
          </a:xfrm>
          <a:prstGeom prst="rect">
            <a:avLst/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362562" y="2208443"/>
            <a:ext cx="3931920" cy="2404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bin_to_decimal(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[3:0] bin,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reg [3:0] tens,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reg [3:0] units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@(*) begin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case(bin)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4'd0:  begin tens=0; units=0; 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4'd9:  begin tens=0; units=9; 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4'd10: begin tens=1; units=0; 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4'd15: begin tens=1; units=5; 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all 16 cases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begin tens=0; units=0; 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endcase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194549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253847"/>
              </p:ext>
            </p:extLst>
          </p:nvPr>
        </p:nvGraphicFramePr>
        <p:xfrm>
          <a:off x="4846320" y="1462995"/>
          <a:ext cx="4114800" cy="2377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663440" y="36576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4C5C34AF-FDA8-0056-F073-4AF0BD5BCE32}"/>
              </a:ext>
            </a:extLst>
          </p:cNvPr>
          <p:cNvSpPr/>
          <p:nvPr/>
        </p:nvSpPr>
        <p:spPr>
          <a:xfrm>
            <a:off x="3410412" y="763927"/>
            <a:ext cx="231038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US" sz="1400" dirty="0"/>
              <a:t>            Binary to Decimal</a:t>
            </a:r>
            <a:endParaRPr lang="en-I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Binary → Hexadecimal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2'b01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61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056809"/>
            <a:ext cx="3840480" cy="1066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4-bit binary maps directly to 1 hex digit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0–9 → digits '0'–'9'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10–15 → letters 'A'–'F'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Displayed on the 1st seven-segment digit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hex digit = 4 binary bits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Verilog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" y="2099299"/>
            <a:ext cx="411480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228600" y="2085008"/>
            <a:ext cx="3931920" cy="22017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bin_to_hex(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[3:0] bin,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reg [3:0] hex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@(*) begin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case(bin)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4'b0000: hex = 4'h0;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4'b0001: hex = 4'h1;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2–9 same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4'b1010: hex = 4'hA;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4'b1011: hex = 4'hB;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4'b1100: hex = 4'hC;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4'b1101: hex = 4'hD;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4'b1110: hex = 4'hE;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4'b1111: hex = 4'hF;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hex = 4'h0;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endcase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1218241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 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853174"/>
              </p:ext>
            </p:extLst>
          </p:nvPr>
        </p:nvGraphicFramePr>
        <p:xfrm>
          <a:off x="4663440" y="1525250"/>
          <a:ext cx="4114800" cy="2926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663440" y="42062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Shape 5"/>
          <p:cNvSpPr/>
          <p:nvPr/>
        </p:nvSpPr>
        <p:spPr>
          <a:xfrm>
            <a:off x="3295237" y="793983"/>
            <a:ext cx="2236133" cy="320039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US" sz="1400" dirty="0"/>
              <a:t>        Binary to Hexadecimal</a:t>
            </a:r>
            <a:endParaRPr lang="en-IN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Binary → Gray 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2'b10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988685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173500"/>
            <a:ext cx="3840480" cy="10181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ONE bit changes between consecutive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MSB of Gray = MSB of Binary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Other bits: Gray[i] = Bin[i+1] XOR Bin[i]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bits displayed on 4 seven-segment digits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Useful in rotary encoders, error reduction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Verilog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5148" y="2173574"/>
            <a:ext cx="4114800" cy="2906592"/>
          </a:xfrm>
          <a:prstGeom prst="rect">
            <a:avLst/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82880" y="2241229"/>
            <a:ext cx="3931920" cy="18851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bin_to_gray(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[3:0] bin, output reg [3:0] gray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@(*) begin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case(bin)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4'b0000: gray = 4'b0000;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4'b0001: gray = 4'b0001;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4'b0010: gray = 4'b0011;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4'b0011: gray = 4'b0010;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4'b0100: gray = 4'b0110;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4'b0101: gray = 4'b0111;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4'b0110: gray = 4'b0101;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4'b0111: gray = 4'b0100;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4'b1000: gray = 4'b1100;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up to 4'b1111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gray = 4'b0000;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endcase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213369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42731"/>
              </p:ext>
            </p:extLst>
          </p:nvPr>
        </p:nvGraphicFramePr>
        <p:xfrm>
          <a:off x="4663440" y="1537906"/>
          <a:ext cx="4114800" cy="329183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2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663440" y="4572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Shape 5"/>
          <p:cNvSpPr/>
          <p:nvPr/>
        </p:nvSpPr>
        <p:spPr>
          <a:xfrm>
            <a:off x="3322320" y="809244"/>
            <a:ext cx="22250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US" sz="1400" dirty="0"/>
              <a:t>        Binary to Gray code</a:t>
            </a:r>
            <a:endParaRPr lang="en-I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Binary → BCD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2'b11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121195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6696" y="1312758"/>
            <a:ext cx="3840480" cy="1008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BCD = Binary Coded Decimal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decimal digit stored as 4 bits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8-bit output: [7:4] = tens, [3:0] = units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8 bits displayed on 8 seven-segment digits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e.g. 12 → 0001_0010 (1 and 2 in BCD)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Verilog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0020" y="2321521"/>
            <a:ext cx="4114800" cy="2736166"/>
          </a:xfrm>
          <a:prstGeom prst="rect">
            <a:avLst/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1460" y="2297837"/>
            <a:ext cx="3690953" cy="273616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bin_to_bcd(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[3:0] bin,</a:t>
            </a:r>
            <a:r>
              <a:rPr lang="en-US" sz="1050" dirty="0"/>
              <a:t> 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reg [7:0] </a:t>
            </a:r>
            <a:r>
              <a:rPr lang="en-US" sz="10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bcd</a:t>
            </a:r>
            <a:r>
              <a:rPr lang="en-US" sz="1050" dirty="0"/>
              <a:t> 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@(*) begin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case(bin)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4'd0:  bcd = 8'b0000_0000;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4'd5:  bcd = 8'b0000_0101;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4'd9:  bcd = 8'b0000_1001;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4'd10: bcd = 8'b0001_0000;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4'd11: bcd = 8'b0001_0001;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4'd12: bcd = 8'b0001_0010;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4'd13: bcd = 8'b0001_0011;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4'd14: bcd = 8'b0001_0100;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4'd15: bcd = 8'b0001_0101;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bcd = 8'b0000_0000;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endcase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149260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 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091640"/>
              </p:ext>
            </p:extLst>
          </p:nvPr>
        </p:nvGraphicFramePr>
        <p:xfrm>
          <a:off x="4663440" y="1835877"/>
          <a:ext cx="4114800" cy="22860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BCD [7:4]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BCD [3:0]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663440" y="3566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Shape 5"/>
          <p:cNvSpPr/>
          <p:nvPr/>
        </p:nvSpPr>
        <p:spPr>
          <a:xfrm>
            <a:off x="3439868" y="796427"/>
            <a:ext cx="211531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US" sz="1400" dirty="0"/>
              <a:t>           Binary to BCD</a:t>
            </a:r>
            <a:endParaRPr lang="en-IN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Clock Divider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down the FPGA clock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39" y="1274421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It?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599" y="1579512"/>
            <a:ext cx="420624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Nexys 4 board runs at 100 MHz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 fast for human eye / 7-seg refresh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divide using a 32-bit counter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= count[3] → divides by 2⁴ = 16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Slowed clock feeds the refresh counter</a:t>
            </a:r>
          </a:p>
          <a:p>
            <a:pPr marL="0" indent="0">
              <a:buNone/>
            </a:pPr>
            <a:endParaRPr lang="en-US" sz="1100" dirty="0">
              <a:solidFill>
                <a:srgbClr val="5A6A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count[3] picks the 4th bit → output toggles every 8 clocks = 16× slower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827607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4888" y="816589"/>
            <a:ext cx="205435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US" sz="1400" dirty="0"/>
              <a:t>            Clock Divider</a:t>
            </a:r>
            <a:endParaRPr lang="en-IN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521502"/>
            <a:ext cx="4206240" cy="3229571"/>
          </a:xfrm>
          <a:prstGeom prst="rect">
            <a:avLst/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91456" y="1579512"/>
            <a:ext cx="3931920" cy="2834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clockdivider(clk, nclk);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clk;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reg nclk;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 [31:0] count = 0;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 @(posedge clk)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begin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count + 1;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nclk = count[3]; // bit[3] = divided clock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Refresh Counter (fed by nclk)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refresh_counter(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</a:t>
            </a:r>
            <a:r>
              <a:rPr lang="en-US" sz="10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output reg [2:0] rc = 3'b000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 @(posedge clk)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begin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rc + 1; // cycles 0..7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3557" y="1188720"/>
            <a:ext cx="3587261" cy="305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1026" name="Picture 2" descr="CMOS Clock Dividers — MidCentury Modular">
            <a:extLst>
              <a:ext uri="{FF2B5EF4-FFF2-40B4-BE49-F238E27FC236}">
                <a16:creationId xmlns:a16="http://schemas.microsoft.com/office/drawing/2014/main" id="{8AC0000A-9BBE-B504-7C3C-C6C477A0F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3054288"/>
            <a:ext cx="3958033" cy="145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8EA51F-353D-3E5F-567B-783EDF4FA8A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r>
              <a:rPr lang="en-IN" sz="3600" dirty="0">
                <a:solidFill>
                  <a:schemeClr val="bg1"/>
                </a:solidFill>
              </a:rPr>
              <a:t>Cathode control</a:t>
            </a: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73C4C06E-9822-C518-58B5-B48676166AFE}"/>
              </a:ext>
            </a:extLst>
          </p:cNvPr>
          <p:cNvSpPr/>
          <p:nvPr/>
        </p:nvSpPr>
        <p:spPr>
          <a:xfrm>
            <a:off x="5029200" y="835152"/>
            <a:ext cx="3895344" cy="4222535"/>
          </a:xfrm>
          <a:prstGeom prst="rect">
            <a:avLst/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IN" sz="1200" dirty="0">
                <a:solidFill>
                  <a:schemeClr val="bg1"/>
                </a:solidFill>
              </a:rPr>
              <a:t>module seg7_cathode(input [3:0] </a:t>
            </a:r>
            <a:r>
              <a:rPr lang="en-IN" sz="1200" dirty="0" err="1">
                <a:solidFill>
                  <a:schemeClr val="bg1"/>
                </a:solidFill>
              </a:rPr>
              <a:t>in,output</a:t>
            </a:r>
            <a:r>
              <a:rPr lang="en-IN" sz="1200" dirty="0">
                <a:solidFill>
                  <a:schemeClr val="bg1"/>
                </a:solidFill>
              </a:rPr>
              <a:t> reg [6:0] cathode);always @(*) begin    case(in)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 4'h0: cathode = 7'b1000000; // 0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4'h1: cathode = 7'b1111001; // 1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4'h2: cathode = 7'b0100100; // 2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4'h3: cathode = 7'b0110000; // 3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4'h4: cathode = 7'b0011001; // 4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4'h5: cathode = 7'b0010010; // 5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4'h6: cathode = 7'b0000010; // 6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4'h7: cathode = 7'b1111000; // 7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4'h8: cathode = 7'b0000000; // 8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4'h9: cathode = 7'b0010000; // 9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4'hA: cathode = 7'b0001000; // A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4'hB: cathode = 7'b0000011; // b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4'hC: cathode = 7'b1000110; // C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4'hD: cathode = 7'b0100001; // d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4'hE: cathode = 7'b0000110; // E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4'hF: cathode = 7'b0001110; // F        </a:t>
            </a:r>
          </a:p>
          <a:p>
            <a:r>
              <a:rPr lang="en-IN" sz="1200" dirty="0">
                <a:solidFill>
                  <a:schemeClr val="bg1"/>
                </a:solidFill>
              </a:rPr>
              <a:t>default: cathode = 7'b1111111; // OFF    </a:t>
            </a:r>
            <a:r>
              <a:rPr lang="en-IN" sz="1200" dirty="0" err="1">
                <a:solidFill>
                  <a:schemeClr val="bg1"/>
                </a:solidFill>
              </a:rPr>
              <a:t>endcase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end</a:t>
            </a:r>
          </a:p>
          <a:p>
            <a:r>
              <a:rPr lang="en-IN" sz="1200" dirty="0" err="1">
                <a:solidFill>
                  <a:schemeClr val="bg1"/>
                </a:solidFill>
              </a:rPr>
              <a:t>endmodule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D8D437-1182-7BCF-B8A4-44100A54D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99" y="2897181"/>
            <a:ext cx="3409363" cy="20265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F4ED97-24FC-DA26-F2C0-CFC72DC776C0}"/>
              </a:ext>
            </a:extLst>
          </p:cNvPr>
          <p:cNvSpPr txBox="1"/>
          <p:nvPr/>
        </p:nvSpPr>
        <p:spPr>
          <a:xfrm>
            <a:off x="112543" y="835152"/>
            <a:ext cx="3895344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100" b="1" i="0" dirty="0">
                <a:solidFill>
                  <a:schemeClr val="tx2"/>
                </a:solidFill>
                <a:effectLst/>
                <a:latin typeface="quote-cjk-patch"/>
              </a:rPr>
              <a:t>7 cathode wires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quote-cjk-patch"/>
              </a:rPr>
              <a:t> (CA–CG) are shared by all 8 seven-segment displays.</a:t>
            </a:r>
          </a:p>
          <a:p>
            <a:pPr algn="l">
              <a:lnSpc>
                <a:spcPts val="165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100" b="1" i="0" dirty="0">
                <a:solidFill>
                  <a:schemeClr val="tx2"/>
                </a:solidFill>
                <a:effectLst/>
                <a:latin typeface="quote-cjk-patch"/>
              </a:rPr>
              <a:t>Active LOW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quote-cjk-patch"/>
              </a:rPr>
              <a:t>: 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Menlo"/>
              </a:rPr>
              <a:t>0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quote-cjk-patch"/>
              </a:rPr>
              <a:t> turns a segment ON, 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Menlo"/>
              </a:rPr>
              <a:t>1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quote-cjk-patch"/>
              </a:rPr>
              <a:t> turns it OFF.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100" b="1" i="0" dirty="0">
                <a:solidFill>
                  <a:schemeClr val="tx2"/>
                </a:solidFill>
                <a:effectLst/>
                <a:latin typeface="quote-cjk-patch"/>
              </a:rPr>
              <a:t>Value depends on the digit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quote-cjk-patch"/>
              </a:rPr>
              <a:t> (0–9, A–F) to be shown on the currently selected display.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buFont typeface="+mj-lt"/>
              <a:buAutoNum type="arabicPeriod"/>
            </a:pPr>
            <a:r>
              <a:rPr lang="en-US" sz="1100" b="1" i="0" dirty="0">
                <a:solidFill>
                  <a:schemeClr val="tx2"/>
                </a:solidFill>
                <a:effectLst/>
                <a:latin typeface="quote-cjk-patch"/>
              </a:rPr>
              <a:t>Changes with each refresh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quote-cjk-patch"/>
              </a:rPr>
              <a:t> (</a:t>
            </a:r>
            <a:r>
              <a:rPr lang="en-US" sz="1100" b="0" i="0" dirty="0" err="1">
                <a:solidFill>
                  <a:schemeClr val="tx2"/>
                </a:solidFill>
                <a:effectLst/>
                <a:latin typeface="quote-cjk-patch"/>
              </a:rPr>
              <a:t>rc</a:t>
            </a:r>
            <a:r>
              <a:rPr lang="en-US" sz="1100" b="0" i="0" dirty="0">
                <a:solidFill>
                  <a:schemeClr val="tx2"/>
                </a:solidFill>
                <a:effectLst/>
                <a:latin typeface="quote-cjk-patch"/>
              </a:rPr>
              <a:t>[2:0] selects which display is active).</a:t>
            </a: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596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Anode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Multiplexed 7-Segment Drive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4997" y="1481327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Anode Control?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712026"/>
            <a:ext cx="3931920" cy="1120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Nexys 4 has 8 seven-segment displays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share the same cathode bus (7 wires)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display is individually selected via its anode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LOW: 0 = ON, 1 = OFF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rc [2:0] input selects one display at a 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Refreshed fast enough so it looks steady to the eye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063240"/>
            <a:ext cx="3931920" cy="1828800"/>
          </a:xfrm>
          <a:prstGeom prst="rect">
            <a:avLst/>
          </a:prstGeom>
          <a:solidFill>
            <a:srgbClr val="E8EFF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30632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22321" y="809244"/>
            <a:ext cx="214579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sz="1200" dirty="0"/>
          </a:p>
        </p:txBody>
      </p:sp>
      <p:sp>
        <p:nvSpPr>
          <p:cNvPr id="10" name="Text 8"/>
          <p:cNvSpPr/>
          <p:nvPr/>
        </p:nvSpPr>
        <p:spPr>
          <a:xfrm>
            <a:off x="1877569" y="813141"/>
            <a:ext cx="503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</a:rPr>
              <a:t>Anode Control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699360"/>
            <a:ext cx="41148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1754711"/>
            <a:ext cx="3931920" cy="261705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anode_control(in, anode);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 [2:0] in;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reg [7:0] anode;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always @(*) begin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case(in)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3'b000: anode = 8'b11111110; // Digit 0 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3'b001: anode = 8'b11111101; // Digit 1 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3'b010: anode = 8'b11111011; // Digit 2 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3'b011: anode = 8'b11110111; // Digit 3 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3'b100: anode = 8'b11101111; // Digit 4 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3'b101: anode = 8'b11011111; // Digit 5 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3'b110: anode = 8'b10111111; // Digit 6 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3'b111: anode = 8'b01111111; // Digit 7 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default: anode = 8'b11111111; // All OFF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endcase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4206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2229D0-7581-2FF5-E574-ECAC9CD96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17" y="3063240"/>
            <a:ext cx="3925824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Elaborated Design — RTL Schematic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· xc7a100tcsg324-2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3630" y="1153667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Modules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537926"/>
              </p:ext>
            </p:extLst>
          </p:nvPr>
        </p:nvGraphicFramePr>
        <p:xfrm>
          <a:off x="183630" y="1600200"/>
          <a:ext cx="2491365" cy="3200400"/>
        </p:xfrm>
        <a:graphic>
          <a:graphicData uri="http://schemas.openxmlformats.org/drawingml/2006/table">
            <a:tbl>
              <a:tblPr/>
              <a:tblGrid>
                <a:gridCol w="755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5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bin_to_hex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bin_to_gray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bin_to_decimal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bin_to_bcd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clockdivider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refresh_counter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anode_control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seg7_cathode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959058" y="777240"/>
            <a:ext cx="8595360" cy="353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r>
              <a:rPr lang="en-US" sz="1200" b="1" dirty="0"/>
              <a:t>:</a:t>
            </a:r>
            <a:endParaRPr lang="en-US" sz="1200" dirty="0">
              <a:solidFill>
                <a:srgbClr val="5A6A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[3:0]→bin  •  sw[5:4]→mode  •  clk→clockdivider→refresh→anode  •  digit→seg7_cathode→seg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0" y="777240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0" y="4800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E22661-487A-AAC3-AF6D-8854EFE09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666" y="1201598"/>
            <a:ext cx="6315355" cy="38611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236" y="0"/>
            <a:ext cx="9094763" cy="56974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Waveform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Simulation — Vivado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61182"/>
            <a:ext cx="8595360" cy="2560320"/>
          </a:xfrm>
          <a:prstGeom prst="rect">
            <a:avLst/>
          </a:prstGeom>
          <a:solidFill>
            <a:srgbClr val="E8EFF7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                                               </a:t>
            </a:r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21798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Waveform Shows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031915"/>
              </p:ext>
            </p:extLst>
          </p:nvPr>
        </p:nvGraphicFramePr>
        <p:xfrm>
          <a:off x="161779" y="3538024"/>
          <a:ext cx="8595360" cy="1508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15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toggle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MHz system clock running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bin[3:0]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0101→1110→1010→…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binary values changing over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mode[1:0]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→ 1 → 2 →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switches through all 4 conversion modes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cathode[6:0]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0010010→1000000…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7-segment pattern for current digit being driven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anode[7:0]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11111110→11111101…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Multiplexer cycles through displays (active LOW)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B22FFE6-5123-F597-9109-FF4C7CE87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61183"/>
            <a:ext cx="8595360" cy="25568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C91F813-3740-050B-8002-AFBE52D845DE}"/>
              </a:ext>
            </a:extLst>
          </p:cNvPr>
          <p:cNvSpPr/>
          <p:nvPr/>
        </p:nvSpPr>
        <p:spPr>
          <a:xfrm>
            <a:off x="112426" y="132894"/>
            <a:ext cx="8919148" cy="48942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5C97D14F-2926-5D54-E399-162D582FD86D}"/>
              </a:ext>
            </a:extLst>
          </p:cNvPr>
          <p:cNvSpPr/>
          <p:nvPr/>
        </p:nvSpPr>
        <p:spPr>
          <a:xfrm>
            <a:off x="365760" y="614079"/>
            <a:ext cx="822960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5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              Summary</a:t>
            </a:r>
            <a:endParaRPr lang="en-US" sz="3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9291FCBF-F580-E022-7CC8-3D79323797A5}"/>
              </a:ext>
            </a:extLst>
          </p:cNvPr>
          <p:cNvSpPr/>
          <p:nvPr/>
        </p:nvSpPr>
        <p:spPr>
          <a:xfrm>
            <a:off x="365760" y="1528479"/>
            <a:ext cx="4114800" cy="868680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30D3B684-2C6D-C978-AB83-7CFAAF82303A}"/>
              </a:ext>
            </a:extLst>
          </p:cNvPr>
          <p:cNvSpPr/>
          <p:nvPr/>
        </p:nvSpPr>
        <p:spPr>
          <a:xfrm>
            <a:off x="502920" y="1574199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→ Decimal</a:t>
            </a:r>
            <a:endParaRPr lang="en-US" sz="13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A601D18B-1A8A-7131-D940-73A9A3C00A6F}"/>
              </a:ext>
            </a:extLst>
          </p:cNvPr>
          <p:cNvSpPr/>
          <p:nvPr/>
        </p:nvSpPr>
        <p:spPr>
          <a:xfrm>
            <a:off x="502920" y="193995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&amp; units on 2 displays   (Mode 00)</a:t>
            </a:r>
            <a:endParaRPr lang="en-US" sz="1050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FC3EF1CE-EB0E-62C3-DF2D-8A653C471081}"/>
              </a:ext>
            </a:extLst>
          </p:cNvPr>
          <p:cNvSpPr/>
          <p:nvPr/>
        </p:nvSpPr>
        <p:spPr>
          <a:xfrm>
            <a:off x="365760" y="2580039"/>
            <a:ext cx="4114800" cy="868680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4BE32C95-157F-C203-BE2D-F8D233712866}"/>
              </a:ext>
            </a:extLst>
          </p:cNvPr>
          <p:cNvSpPr/>
          <p:nvPr/>
        </p:nvSpPr>
        <p:spPr>
          <a:xfrm>
            <a:off x="502920" y="2625759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→ Hex</a:t>
            </a:r>
            <a:endParaRPr lang="en-US" sz="13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24230F4F-7D80-338D-3906-CA38779115F0}"/>
              </a:ext>
            </a:extLst>
          </p:cNvPr>
          <p:cNvSpPr/>
          <p:nvPr/>
        </p:nvSpPr>
        <p:spPr>
          <a:xfrm>
            <a:off x="502920" y="299151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hex digit on display  (Mode 01)</a:t>
            </a:r>
            <a:endParaRPr lang="en-US" sz="105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7521289E-E079-47E6-D0F7-67D1FC267611}"/>
              </a:ext>
            </a:extLst>
          </p:cNvPr>
          <p:cNvSpPr/>
          <p:nvPr/>
        </p:nvSpPr>
        <p:spPr>
          <a:xfrm>
            <a:off x="365760" y="3631599"/>
            <a:ext cx="4114800" cy="868680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BEFB8A73-7601-5274-4BD6-635FD04E8F5B}"/>
              </a:ext>
            </a:extLst>
          </p:cNvPr>
          <p:cNvSpPr/>
          <p:nvPr/>
        </p:nvSpPr>
        <p:spPr>
          <a:xfrm>
            <a:off x="502920" y="3677319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→ Gray</a:t>
            </a:r>
            <a:endParaRPr lang="en-US" sz="13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C83ED5AE-BF9F-B961-0052-BCB83777B89C}"/>
              </a:ext>
            </a:extLst>
          </p:cNvPr>
          <p:cNvSpPr/>
          <p:nvPr/>
        </p:nvSpPr>
        <p:spPr>
          <a:xfrm>
            <a:off x="502920" y="404307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Gray on 4 displays      (Mode 10)</a:t>
            </a:r>
            <a:endParaRPr lang="en-US" sz="105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0CD70EAF-F965-34B5-1EC4-118D17FA352F}"/>
              </a:ext>
            </a:extLst>
          </p:cNvPr>
          <p:cNvSpPr/>
          <p:nvPr/>
        </p:nvSpPr>
        <p:spPr>
          <a:xfrm>
            <a:off x="4754880" y="1528479"/>
            <a:ext cx="4114800" cy="868680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D6A7AFB5-6CF2-2005-9CE4-3B4041423AE9}"/>
              </a:ext>
            </a:extLst>
          </p:cNvPr>
          <p:cNvSpPr/>
          <p:nvPr/>
        </p:nvSpPr>
        <p:spPr>
          <a:xfrm>
            <a:off x="4892040" y="1574199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→ BCD</a:t>
            </a:r>
            <a:endParaRPr lang="en-US" sz="13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88EE2870-8E84-67D6-E82B-7151A2FC5250}"/>
              </a:ext>
            </a:extLst>
          </p:cNvPr>
          <p:cNvSpPr/>
          <p:nvPr/>
        </p:nvSpPr>
        <p:spPr>
          <a:xfrm>
            <a:off x="4892040" y="193995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BCD on 8 displays        (Mode 11)</a:t>
            </a:r>
            <a:endParaRPr lang="en-US" sz="1050" dirty="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6C84EC81-1B70-754F-5D85-0743CD489A5F}"/>
              </a:ext>
            </a:extLst>
          </p:cNvPr>
          <p:cNvSpPr/>
          <p:nvPr/>
        </p:nvSpPr>
        <p:spPr>
          <a:xfrm>
            <a:off x="4754880" y="2580039"/>
            <a:ext cx="4114800" cy="868680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455898BE-BD79-CE66-02B3-32FD2FCD8A68}"/>
              </a:ext>
            </a:extLst>
          </p:cNvPr>
          <p:cNvSpPr/>
          <p:nvPr/>
        </p:nvSpPr>
        <p:spPr>
          <a:xfrm>
            <a:off x="4892040" y="2625759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Divider</a:t>
            </a:r>
            <a:endParaRPr lang="en-US" sz="1300" dirty="0"/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1325A168-B90B-A613-7EC4-1FC1D8A4662B}"/>
              </a:ext>
            </a:extLst>
          </p:cNvPr>
          <p:cNvSpPr/>
          <p:nvPr/>
        </p:nvSpPr>
        <p:spPr>
          <a:xfrm>
            <a:off x="4892040" y="299151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100 MHz for refresh counter</a:t>
            </a:r>
            <a:endParaRPr lang="en-US" sz="105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FF1859EB-A254-57E7-E861-4E109728A196}"/>
              </a:ext>
            </a:extLst>
          </p:cNvPr>
          <p:cNvSpPr/>
          <p:nvPr/>
        </p:nvSpPr>
        <p:spPr>
          <a:xfrm>
            <a:off x="4754880" y="3631599"/>
            <a:ext cx="4114800" cy="868680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5C95F739-80B1-E5A0-8987-C7D87ED04E6B}"/>
              </a:ext>
            </a:extLst>
          </p:cNvPr>
          <p:cNvSpPr/>
          <p:nvPr/>
        </p:nvSpPr>
        <p:spPr>
          <a:xfrm>
            <a:off x="4892040" y="3677319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 Control</a:t>
            </a:r>
            <a:endParaRPr lang="en-US" sz="13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60E57BAF-56E8-8975-3BA0-E6DFDA9743C5}"/>
              </a:ext>
            </a:extLst>
          </p:cNvPr>
          <p:cNvSpPr/>
          <p:nvPr/>
        </p:nvSpPr>
        <p:spPr>
          <a:xfrm>
            <a:off x="4892040" y="4043079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Active-LOW mux for 8 displays</a:t>
            </a:r>
            <a:endParaRPr lang="en-US" sz="10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31FD5B-68C0-9C75-D9EA-9676733679B2}"/>
              </a:ext>
            </a:extLst>
          </p:cNvPr>
          <p:cNvSpPr txBox="1"/>
          <p:nvPr/>
        </p:nvSpPr>
        <p:spPr>
          <a:xfrm>
            <a:off x="2097499" y="2543026"/>
            <a:ext cx="4575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1767</Words>
  <Application>Microsoft Office PowerPoint</Application>
  <PresentationFormat>On-screen Show (16:9)</PresentationFormat>
  <Paragraphs>409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Arial Black</vt:lpstr>
      <vt:lpstr>Calibri</vt:lpstr>
      <vt:lpstr>Calisto MT</vt:lpstr>
      <vt:lpstr>Consolas</vt:lpstr>
      <vt:lpstr>DejaVu Serif</vt:lpstr>
      <vt:lpstr>Menlo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Converter - Verilog FPGA</dc:title>
  <dc:subject>PptxGenJS Presentation</dc:subject>
  <dc:creator>PptxGenJS</dc:creator>
  <cp:lastModifiedBy>Leela Krishna Tulugu</cp:lastModifiedBy>
  <cp:revision>6</cp:revision>
  <dcterms:created xsi:type="dcterms:W3CDTF">2026-04-17T08:02:55Z</dcterms:created>
  <dcterms:modified xsi:type="dcterms:W3CDTF">2026-07-08T05:41:01Z</dcterms:modified>
</cp:coreProperties>
</file>